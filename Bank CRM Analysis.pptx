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League Spartan" charset="1" panose="00000800000000000000"/>
      <p:regular r:id="rId19"/>
    </p:embeddedFont>
    <p:embeddedFont>
      <p:font typeface="Poppins"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grpSp>
        <p:nvGrpSpPr>
          <p:cNvPr name="Group 3" id="3"/>
          <p:cNvGrpSpPr/>
          <p:nvPr/>
        </p:nvGrpSpPr>
        <p:grpSpPr>
          <a:xfrm rot="0">
            <a:off x="0" y="0"/>
            <a:ext cx="3086100" cy="10287000"/>
            <a:chOff x="0" y="0"/>
            <a:chExt cx="812800" cy="2709333"/>
          </a:xfrm>
        </p:grpSpPr>
        <p:sp>
          <p:nvSpPr>
            <p:cNvPr name="Freeform 4" id="4"/>
            <p:cNvSpPr/>
            <p:nvPr/>
          </p:nvSpPr>
          <p:spPr>
            <a:xfrm flipH="false" flipV="false" rot="0">
              <a:off x="0" y="0"/>
              <a:ext cx="812800" cy="2709333"/>
            </a:xfrm>
            <a:custGeom>
              <a:avLst/>
              <a:gdLst/>
              <a:ahLst/>
              <a:cxnLst/>
              <a:rect r="r" b="b" t="t" l="l"/>
              <a:pathLst>
                <a:path h="2709333" w="812800">
                  <a:moveTo>
                    <a:pt x="0" y="0"/>
                  </a:moveTo>
                  <a:lnTo>
                    <a:pt x="812800" y="0"/>
                  </a:lnTo>
                  <a:lnTo>
                    <a:pt x="812800" y="2709333"/>
                  </a:lnTo>
                  <a:lnTo>
                    <a:pt x="0" y="2709333"/>
                  </a:lnTo>
                  <a:close/>
                </a:path>
              </a:pathLst>
            </a:custGeom>
            <a:solidFill>
              <a:srgbClr val="593C8F"/>
            </a:solidFill>
          </p:spPr>
        </p:sp>
        <p:sp>
          <p:nvSpPr>
            <p:cNvPr name="TextBox 5" id="5"/>
            <p:cNvSpPr txBox="true"/>
            <p:nvPr/>
          </p:nvSpPr>
          <p:spPr>
            <a:xfrm>
              <a:off x="0" y="-47625"/>
              <a:ext cx="812800" cy="27569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648322" y="3708400"/>
            <a:ext cx="9687995" cy="1749425"/>
          </a:xfrm>
          <a:prstGeom prst="rect">
            <a:avLst/>
          </a:prstGeom>
        </p:spPr>
        <p:txBody>
          <a:bodyPr anchor="t" rtlCol="false" tIns="0" lIns="0" bIns="0" rIns="0">
            <a:spAutoFit/>
          </a:bodyPr>
          <a:lstStyle/>
          <a:p>
            <a:pPr algn="l">
              <a:lnSpc>
                <a:spcPts val="7000"/>
              </a:lnSpc>
              <a:spcBef>
                <a:spcPct val="0"/>
              </a:spcBef>
            </a:pPr>
            <a:r>
              <a:rPr lang="en-US" sz="5000">
                <a:solidFill>
                  <a:srgbClr val="593C8F"/>
                </a:solidFill>
                <a:latin typeface="League Spartan"/>
                <a:ea typeface="League Spartan"/>
                <a:cs typeface="League Spartan"/>
                <a:sym typeface="League Spartan"/>
              </a:rPr>
              <a:t>ANALYZING BANK CRM DATA</a:t>
            </a:r>
          </a:p>
        </p:txBody>
      </p:sp>
      <p:sp>
        <p:nvSpPr>
          <p:cNvPr name="AutoShape 7" id="7"/>
          <p:cNvSpPr/>
          <p:nvPr/>
        </p:nvSpPr>
        <p:spPr>
          <a:xfrm flipV="true">
            <a:off x="3648322" y="5611372"/>
            <a:ext cx="9687995" cy="20505"/>
          </a:xfrm>
          <a:prstGeom prst="line">
            <a:avLst/>
          </a:prstGeom>
          <a:ln cap="flat" w="38100">
            <a:solidFill>
              <a:srgbClr val="000000"/>
            </a:solidFill>
            <a:prstDash val="solid"/>
            <a:headEnd type="none" len="sm" w="sm"/>
            <a:tailEnd type="none" len="sm" w="sm"/>
          </a:ln>
        </p:spPr>
      </p:sp>
      <p:sp>
        <p:nvSpPr>
          <p:cNvPr name="Freeform 8" id="8"/>
          <p:cNvSpPr/>
          <p:nvPr/>
        </p:nvSpPr>
        <p:spPr>
          <a:xfrm flipH="false" flipV="false" rot="0">
            <a:off x="13763158" y="387350"/>
            <a:ext cx="4160184" cy="4114800"/>
          </a:xfrm>
          <a:custGeom>
            <a:avLst/>
            <a:gdLst/>
            <a:ahLst/>
            <a:cxnLst/>
            <a:rect r="r" b="b" t="t" l="l"/>
            <a:pathLst>
              <a:path h="4114800" w="4160184">
                <a:moveTo>
                  <a:pt x="0" y="0"/>
                </a:moveTo>
                <a:lnTo>
                  <a:pt x="4160184" y="0"/>
                </a:lnTo>
                <a:lnTo>
                  <a:pt x="4160184" y="4114800"/>
                </a:lnTo>
                <a:lnTo>
                  <a:pt x="0" y="4114800"/>
                </a:lnTo>
                <a:lnTo>
                  <a:pt x="0" y="0"/>
                </a:lnTo>
                <a:close/>
              </a:path>
            </a:pathLst>
          </a:custGeom>
          <a:blipFill>
            <a:blip r:embed="rId3">
              <a:alphaModFix amt="37000"/>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3648322" y="5934218"/>
            <a:ext cx="6583633" cy="552098"/>
          </a:xfrm>
          <a:prstGeom prst="rect">
            <a:avLst/>
          </a:prstGeom>
        </p:spPr>
        <p:txBody>
          <a:bodyPr anchor="t" rtlCol="false" tIns="0" lIns="0" bIns="0" rIns="0">
            <a:spAutoFit/>
          </a:bodyPr>
          <a:lstStyle/>
          <a:p>
            <a:pPr algn="l">
              <a:lnSpc>
                <a:spcPts val="4219"/>
              </a:lnSpc>
              <a:spcBef>
                <a:spcPct val="0"/>
              </a:spcBef>
            </a:pPr>
            <a:r>
              <a:rPr lang="en-US" sz="3013">
                <a:solidFill>
                  <a:srgbClr val="000000"/>
                </a:solidFill>
                <a:latin typeface="Poppins"/>
                <a:ea typeface="Poppins"/>
                <a:cs typeface="Poppins"/>
                <a:sym typeface="Poppins"/>
              </a:rPr>
              <a:t>Analyzed By - Thailesh Sinha</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593C8F"/>
            </a:solidFill>
          </p:spPr>
        </p:sp>
        <p:sp>
          <p:nvSpPr>
            <p:cNvPr name="TextBox 4" id="4"/>
            <p:cNvSpPr txBox="true"/>
            <p:nvPr/>
          </p:nvSpPr>
          <p:spPr>
            <a:xfrm>
              <a:off x="0" y="-47625"/>
              <a:ext cx="4816593" cy="2756958"/>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20" y="1152525"/>
            <a:ext cx="15353349" cy="738537"/>
          </a:xfrm>
          <a:prstGeom prst="rect">
            <a:avLst/>
          </a:prstGeom>
        </p:spPr>
        <p:txBody>
          <a:bodyPr anchor="t" rtlCol="false" tIns="0" lIns="0" bIns="0" rIns="0">
            <a:spAutoFit/>
          </a:bodyPr>
          <a:lstStyle/>
          <a:p>
            <a:pPr algn="ctr">
              <a:lnSpc>
                <a:spcPts val="6018"/>
              </a:lnSpc>
              <a:spcBef>
                <a:spcPct val="0"/>
              </a:spcBef>
            </a:pPr>
            <a:r>
              <a:rPr lang="en-US" sz="4298">
                <a:solidFill>
                  <a:srgbClr val="FFFFFF"/>
                </a:solidFill>
                <a:latin typeface="League Spartan"/>
                <a:ea typeface="League Spartan"/>
                <a:cs typeface="League Spartan"/>
                <a:sym typeface="League Spartan"/>
              </a:rPr>
              <a:t>AGENDA</a:t>
            </a:r>
          </a:p>
        </p:txBody>
      </p:sp>
      <p:sp>
        <p:nvSpPr>
          <p:cNvPr name="AutoShape 6" id="6"/>
          <p:cNvSpPr/>
          <p:nvPr/>
        </p:nvSpPr>
        <p:spPr>
          <a:xfrm flipV="true">
            <a:off x="6263005" y="1871713"/>
            <a:ext cx="5761990" cy="19050"/>
          </a:xfrm>
          <a:prstGeom prst="line">
            <a:avLst/>
          </a:prstGeom>
          <a:ln cap="flat" w="38100">
            <a:solidFill>
              <a:srgbClr val="FFFFFF"/>
            </a:solidFill>
            <a:prstDash val="solid"/>
            <a:headEnd type="none" len="sm" w="sm"/>
            <a:tailEnd type="none" len="sm" w="sm"/>
          </a:ln>
        </p:spPr>
      </p:sp>
      <p:sp>
        <p:nvSpPr>
          <p:cNvPr name="TextBox 7" id="7"/>
          <p:cNvSpPr txBox="true"/>
          <p:nvPr/>
        </p:nvSpPr>
        <p:spPr>
          <a:xfrm rot="0">
            <a:off x="2677167" y="3971925"/>
            <a:ext cx="6815589" cy="1609725"/>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FFFFFF"/>
                </a:solidFill>
                <a:latin typeface="Poppins"/>
                <a:ea typeface="Poppins"/>
                <a:cs typeface="Poppins"/>
                <a:sym typeface="Poppins"/>
              </a:rPr>
              <a:t>Problem Statement</a:t>
            </a:r>
          </a:p>
          <a:p>
            <a:pPr algn="l" marL="647700" indent="-323850" lvl="1">
              <a:lnSpc>
                <a:spcPts val="4200"/>
              </a:lnSpc>
              <a:buFont typeface="Arial"/>
              <a:buChar char="•"/>
            </a:pPr>
            <a:r>
              <a:rPr lang="en-US" sz="3000">
                <a:solidFill>
                  <a:srgbClr val="FFFFFF"/>
                </a:solidFill>
                <a:latin typeface="Poppins"/>
                <a:ea typeface="Poppins"/>
                <a:cs typeface="Poppins"/>
                <a:sym typeface="Poppins"/>
              </a:rPr>
              <a:t>Data Description</a:t>
            </a:r>
          </a:p>
          <a:p>
            <a:pPr algn="l" marL="647700" indent="-323850" lvl="1">
              <a:lnSpc>
                <a:spcPts val="4200"/>
              </a:lnSpc>
              <a:buFont typeface="Arial"/>
              <a:buChar char="•"/>
            </a:pPr>
            <a:r>
              <a:rPr lang="en-US" sz="3000">
                <a:solidFill>
                  <a:srgbClr val="FFFFFF"/>
                </a:solidFill>
                <a:latin typeface="Poppins"/>
                <a:ea typeface="Poppins"/>
                <a:cs typeface="Poppins"/>
                <a:sym typeface="Poppins"/>
              </a:rPr>
              <a:t>Insights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TextBox 3" id="3"/>
          <p:cNvSpPr txBox="true"/>
          <p:nvPr/>
        </p:nvSpPr>
        <p:spPr>
          <a:xfrm rot="0">
            <a:off x="1028720" y="1494821"/>
            <a:ext cx="16230580" cy="738537"/>
          </a:xfrm>
          <a:prstGeom prst="rect">
            <a:avLst/>
          </a:prstGeom>
        </p:spPr>
        <p:txBody>
          <a:bodyPr anchor="t" rtlCol="false" tIns="0" lIns="0" bIns="0" rIns="0">
            <a:spAutoFit/>
          </a:bodyPr>
          <a:lstStyle/>
          <a:p>
            <a:pPr algn="ctr">
              <a:lnSpc>
                <a:spcPts val="6018"/>
              </a:lnSpc>
              <a:spcBef>
                <a:spcPct val="0"/>
              </a:spcBef>
            </a:pPr>
            <a:r>
              <a:rPr lang="en-US" sz="4298">
                <a:solidFill>
                  <a:srgbClr val="593C8F"/>
                </a:solidFill>
                <a:latin typeface="League Spartan"/>
                <a:ea typeface="League Spartan"/>
                <a:cs typeface="League Spartan"/>
                <a:sym typeface="League Spartan"/>
              </a:rPr>
              <a:t>PROBLEM STATEMENT</a:t>
            </a:r>
          </a:p>
        </p:txBody>
      </p:sp>
      <p:sp>
        <p:nvSpPr>
          <p:cNvPr name="AutoShape 4" id="4"/>
          <p:cNvSpPr/>
          <p:nvPr/>
        </p:nvSpPr>
        <p:spPr>
          <a:xfrm flipH="true">
            <a:off x="1028720" y="2186817"/>
            <a:ext cx="0" cy="0"/>
          </a:xfrm>
          <a:prstGeom prst="line">
            <a:avLst/>
          </a:prstGeom>
          <a:ln cap="flat" w="19050">
            <a:solidFill>
              <a:srgbClr val="000000"/>
            </a:solidFill>
            <a:prstDash val="solid"/>
            <a:headEnd type="none" len="sm" w="sm"/>
            <a:tailEnd type="none" len="sm" w="sm"/>
          </a:ln>
        </p:spPr>
      </p:sp>
      <p:sp>
        <p:nvSpPr>
          <p:cNvPr name="TextBox 5" id="5"/>
          <p:cNvSpPr txBox="true"/>
          <p:nvPr/>
        </p:nvSpPr>
        <p:spPr>
          <a:xfrm rot="0">
            <a:off x="1027649" y="3351574"/>
            <a:ext cx="16231651" cy="3743325"/>
          </a:xfrm>
          <a:prstGeom prst="rect">
            <a:avLst/>
          </a:prstGeom>
        </p:spPr>
        <p:txBody>
          <a:bodyPr anchor="t" rtlCol="false" tIns="0" lIns="0" bIns="0" rIns="0">
            <a:spAutoFit/>
          </a:bodyPr>
          <a:lstStyle/>
          <a:p>
            <a:pPr algn="l">
              <a:lnSpc>
                <a:spcPts val="4200"/>
              </a:lnSpc>
            </a:pPr>
            <a:r>
              <a:rPr lang="en-US" sz="3000">
                <a:solidFill>
                  <a:srgbClr val="000000"/>
                </a:solidFill>
                <a:latin typeface="Poppins"/>
                <a:ea typeface="Poppins"/>
                <a:cs typeface="Poppins"/>
                <a:sym typeface="Poppins"/>
              </a:rPr>
              <a:t>Y</a:t>
            </a:r>
            <a:r>
              <a:rPr lang="en-US" sz="3000">
                <a:solidFill>
                  <a:srgbClr val="000000"/>
                </a:solidFill>
                <a:latin typeface="Poppins"/>
                <a:ea typeface="Poppins"/>
                <a:cs typeface="Poppins"/>
                <a:sym typeface="Poppins"/>
              </a:rPr>
              <a:t>ou are an analytical CRM (Customer Relationship Management) specialist hired by a bank to extract meaningful insights from various customer-related datasets. The bank aims to reduce customer churn, improve service delivery, and enhance customer satisfaction. They have provided you with datasets including customer demographics, transaction details, customer exit information, and active customer profiles.</a:t>
            </a:r>
          </a:p>
          <a:p>
            <a:pPr algn="l">
              <a:lnSpc>
                <a:spcPts val="4200"/>
              </a:lnSpc>
              <a:spcBef>
                <a:spcPct val="0"/>
              </a:spcBef>
            </a:pPr>
          </a:p>
        </p:txBody>
      </p:sp>
      <p:sp>
        <p:nvSpPr>
          <p:cNvPr name="AutoShape 6" id="6"/>
          <p:cNvSpPr/>
          <p:nvPr/>
        </p:nvSpPr>
        <p:spPr>
          <a:xfrm>
            <a:off x="5797164" y="2233358"/>
            <a:ext cx="6676380"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593C8F"/>
            </a:solidFill>
          </p:spPr>
        </p:sp>
        <p:sp>
          <p:nvSpPr>
            <p:cNvPr name="TextBox 4" id="4"/>
            <p:cNvSpPr txBox="true"/>
            <p:nvPr/>
          </p:nvSpPr>
          <p:spPr>
            <a:xfrm>
              <a:off x="0" y="-47625"/>
              <a:ext cx="4816593" cy="2756958"/>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20" y="1152525"/>
            <a:ext cx="15974941" cy="738537"/>
          </a:xfrm>
          <a:prstGeom prst="rect">
            <a:avLst/>
          </a:prstGeom>
        </p:spPr>
        <p:txBody>
          <a:bodyPr anchor="t" rtlCol="false" tIns="0" lIns="0" bIns="0" rIns="0">
            <a:spAutoFit/>
          </a:bodyPr>
          <a:lstStyle/>
          <a:p>
            <a:pPr algn="ctr">
              <a:lnSpc>
                <a:spcPts val="6018"/>
              </a:lnSpc>
              <a:spcBef>
                <a:spcPct val="0"/>
              </a:spcBef>
            </a:pPr>
            <a:r>
              <a:rPr lang="en-US" sz="4298">
                <a:solidFill>
                  <a:srgbClr val="FFFFFF"/>
                </a:solidFill>
                <a:latin typeface="League Spartan"/>
                <a:ea typeface="League Spartan"/>
                <a:cs typeface="League Spartan"/>
                <a:sym typeface="League Spartan"/>
              </a:rPr>
              <a:t>METHODOLOGY</a:t>
            </a:r>
          </a:p>
        </p:txBody>
      </p:sp>
      <p:sp>
        <p:nvSpPr>
          <p:cNvPr name="AutoShape 6" id="6"/>
          <p:cNvSpPr/>
          <p:nvPr/>
        </p:nvSpPr>
        <p:spPr>
          <a:xfrm flipV="true">
            <a:off x="6263005" y="1871713"/>
            <a:ext cx="5761990" cy="19050"/>
          </a:xfrm>
          <a:prstGeom prst="line">
            <a:avLst/>
          </a:prstGeom>
          <a:ln cap="flat" w="38100">
            <a:solidFill>
              <a:srgbClr val="FFFFFF"/>
            </a:solidFill>
            <a:prstDash val="solid"/>
            <a:headEnd type="none" len="sm" w="sm"/>
            <a:tailEnd type="none" len="sm" w="sm"/>
          </a:ln>
        </p:spPr>
      </p:sp>
      <p:sp>
        <p:nvSpPr>
          <p:cNvPr name="TextBox 7" id="7"/>
          <p:cNvSpPr txBox="true"/>
          <p:nvPr/>
        </p:nvSpPr>
        <p:spPr>
          <a:xfrm rot="0">
            <a:off x="2677167" y="3000375"/>
            <a:ext cx="12902012" cy="5260975"/>
          </a:xfrm>
          <a:prstGeom prst="rect">
            <a:avLst/>
          </a:prstGeom>
        </p:spPr>
        <p:txBody>
          <a:bodyPr anchor="t" rtlCol="false" tIns="0" lIns="0" bIns="0" rIns="0">
            <a:spAutoFit/>
          </a:bodyPr>
          <a:lstStyle/>
          <a:p>
            <a:pPr algn="l" marL="539748" indent="-269874" lvl="1">
              <a:lnSpc>
                <a:spcPts val="3499"/>
              </a:lnSpc>
              <a:buFont typeface="Arial"/>
              <a:buChar char="•"/>
            </a:pPr>
            <a:r>
              <a:rPr lang="en-US" sz="2499">
                <a:solidFill>
                  <a:srgbClr val="FFFFFF"/>
                </a:solidFill>
                <a:latin typeface="Poppins"/>
                <a:ea typeface="Poppins"/>
                <a:cs typeface="Poppins"/>
                <a:sym typeface="Poppins"/>
              </a:rPr>
              <a:t>We have first analyzed the problem statement and then the data.</a:t>
            </a:r>
          </a:p>
          <a:p>
            <a:pPr algn="l" marL="539748" indent="-269874" lvl="1">
              <a:lnSpc>
                <a:spcPts val="3499"/>
              </a:lnSpc>
              <a:buFont typeface="Arial"/>
              <a:buChar char="•"/>
            </a:pPr>
            <a:r>
              <a:rPr lang="en-US" sz="2499">
                <a:solidFill>
                  <a:srgbClr val="FFFFFF"/>
                </a:solidFill>
                <a:latin typeface="Poppins"/>
                <a:ea typeface="Poppins"/>
                <a:cs typeface="Poppins"/>
                <a:sym typeface="Poppins"/>
              </a:rPr>
              <a:t>We have used SQL to answer various questions. In SQL we have used different commands like select, group by, order by, joins, window function, right(), update and alter.</a:t>
            </a:r>
          </a:p>
          <a:p>
            <a:pPr algn="l" marL="539748" indent="-269874" lvl="1">
              <a:lnSpc>
                <a:spcPts val="3499"/>
              </a:lnSpc>
              <a:buFont typeface="Arial"/>
              <a:buChar char="•"/>
            </a:pPr>
            <a:r>
              <a:rPr lang="en-US" sz="2499">
                <a:solidFill>
                  <a:srgbClr val="FFFFFF"/>
                </a:solidFill>
                <a:latin typeface="Poppins"/>
                <a:ea typeface="Poppins"/>
                <a:cs typeface="Poppins"/>
                <a:sym typeface="Poppins"/>
              </a:rPr>
              <a:t>In power BI we have created the Calculated columns, used DAX function to create measures, have applied conditional formatting and slicers to the dashboards.</a:t>
            </a:r>
          </a:p>
          <a:p>
            <a:pPr algn="l" marL="539748" indent="-269874" lvl="1">
              <a:lnSpc>
                <a:spcPts val="3499"/>
              </a:lnSpc>
              <a:buFont typeface="Arial"/>
              <a:buChar char="•"/>
            </a:pPr>
            <a:r>
              <a:rPr lang="en-US" sz="2499">
                <a:solidFill>
                  <a:srgbClr val="FFFFFF"/>
                </a:solidFill>
                <a:latin typeface="Poppins"/>
                <a:ea typeface="Poppins"/>
                <a:cs typeface="Poppins"/>
                <a:sym typeface="Poppins"/>
              </a:rPr>
              <a:t>We have used Power BI to create various charts and to prepare a dashboard.</a:t>
            </a:r>
          </a:p>
          <a:p>
            <a:pPr algn="l" marL="539748" indent="-269874" lvl="1">
              <a:lnSpc>
                <a:spcPts val="3499"/>
              </a:lnSpc>
              <a:buFont typeface="Arial"/>
              <a:buChar char="•"/>
            </a:pPr>
            <a:r>
              <a:rPr lang="en-US" sz="2499">
                <a:solidFill>
                  <a:srgbClr val="FFFFFF"/>
                </a:solidFill>
                <a:latin typeface="Poppins"/>
                <a:ea typeface="Poppins"/>
                <a:cs typeface="Poppins"/>
                <a:sym typeface="Poppins"/>
              </a:rPr>
              <a:t>We have also found the discrepancy in IsActiveMember column which we removed by creating a calculated column where we used if function to do so. </a:t>
            </a:r>
          </a:p>
          <a:p>
            <a:pPr algn="l">
              <a:lnSpc>
                <a:spcPts val="349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TextBox 3" id="3"/>
          <p:cNvSpPr txBox="true"/>
          <p:nvPr/>
        </p:nvSpPr>
        <p:spPr>
          <a:xfrm rot="0">
            <a:off x="1028720" y="704850"/>
            <a:ext cx="16230580" cy="738537"/>
          </a:xfrm>
          <a:prstGeom prst="rect">
            <a:avLst/>
          </a:prstGeom>
        </p:spPr>
        <p:txBody>
          <a:bodyPr anchor="t" rtlCol="false" tIns="0" lIns="0" bIns="0" rIns="0">
            <a:spAutoFit/>
          </a:bodyPr>
          <a:lstStyle/>
          <a:p>
            <a:pPr algn="ctr">
              <a:lnSpc>
                <a:spcPts val="6018"/>
              </a:lnSpc>
              <a:spcBef>
                <a:spcPct val="0"/>
              </a:spcBef>
            </a:pPr>
            <a:r>
              <a:rPr lang="en-US" sz="4298">
                <a:solidFill>
                  <a:srgbClr val="593C8F"/>
                </a:solidFill>
                <a:latin typeface="League Spartan"/>
                <a:ea typeface="League Spartan"/>
                <a:cs typeface="League Spartan"/>
                <a:sym typeface="League Spartan"/>
              </a:rPr>
              <a:t>DATA DESCRIPTION</a:t>
            </a:r>
          </a:p>
        </p:txBody>
      </p:sp>
      <p:sp>
        <p:nvSpPr>
          <p:cNvPr name="TextBox 4" id="4"/>
          <p:cNvSpPr txBox="true"/>
          <p:nvPr/>
        </p:nvSpPr>
        <p:spPr>
          <a:xfrm rot="0">
            <a:off x="1027649" y="2494324"/>
            <a:ext cx="16231651" cy="56991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Poppins"/>
                <a:ea typeface="Poppins"/>
                <a:cs typeface="Poppins"/>
                <a:sym typeface="Poppins"/>
              </a:rPr>
              <a:t>R</a:t>
            </a:r>
            <a:r>
              <a:rPr lang="en-US" sz="2499">
                <a:solidFill>
                  <a:srgbClr val="000000"/>
                </a:solidFill>
                <a:latin typeface="Poppins"/>
                <a:ea typeface="Poppins"/>
                <a:cs typeface="Poppins"/>
                <a:sym typeface="Poppins"/>
              </a:rPr>
              <a:t>owNumber: The row number in the dataset, likely used for reference or indexing.</a:t>
            </a:r>
          </a:p>
          <a:p>
            <a:pPr algn="l" marL="539749" indent="-269875" lvl="1">
              <a:lnSpc>
                <a:spcPts val="3499"/>
              </a:lnSpc>
              <a:buFont typeface="Arial"/>
              <a:buChar char="•"/>
            </a:pPr>
            <a:r>
              <a:rPr lang="en-US" sz="2499">
                <a:solidFill>
                  <a:srgbClr val="000000"/>
                </a:solidFill>
                <a:latin typeface="Poppins"/>
                <a:ea typeface="Poppins"/>
                <a:cs typeface="Poppins"/>
                <a:sym typeface="Poppins"/>
              </a:rPr>
              <a:t>CustomerId: A unique identifier for each customer.</a:t>
            </a:r>
          </a:p>
          <a:p>
            <a:pPr algn="l" marL="539749" indent="-269875" lvl="1">
              <a:lnSpc>
                <a:spcPts val="3499"/>
              </a:lnSpc>
              <a:buFont typeface="Arial"/>
              <a:buChar char="•"/>
            </a:pPr>
            <a:r>
              <a:rPr lang="en-US" sz="2499">
                <a:solidFill>
                  <a:srgbClr val="000000"/>
                </a:solidFill>
                <a:latin typeface="Poppins"/>
                <a:ea typeface="Poppins"/>
                <a:cs typeface="Poppins"/>
                <a:sym typeface="Poppins"/>
              </a:rPr>
              <a:t>CreditScore: A numerical representation of the customer's creditworthiness.</a:t>
            </a:r>
          </a:p>
          <a:p>
            <a:pPr algn="l" marL="1079499" indent="-359833" lvl="2">
              <a:lnSpc>
                <a:spcPts val="3499"/>
              </a:lnSpc>
              <a:buFont typeface="Arial"/>
              <a:buChar char="⚬"/>
            </a:pPr>
            <a:r>
              <a:rPr lang="en-US" sz="2499">
                <a:solidFill>
                  <a:srgbClr val="000000"/>
                </a:solidFill>
                <a:latin typeface="Poppins"/>
                <a:ea typeface="Poppins"/>
                <a:cs typeface="Poppins"/>
                <a:sym typeface="Poppins"/>
              </a:rPr>
              <a:t>Credit score: </a:t>
            </a:r>
          </a:p>
          <a:p>
            <a:pPr algn="l" marL="1619248" indent="-404812" lvl="3">
              <a:lnSpc>
                <a:spcPts val="3499"/>
              </a:lnSpc>
              <a:buFont typeface="Arial"/>
              <a:buChar char="￭"/>
            </a:pPr>
            <a:r>
              <a:rPr lang="en-US" sz="2499">
                <a:solidFill>
                  <a:srgbClr val="000000"/>
                </a:solidFill>
                <a:latin typeface="Poppins"/>
                <a:ea typeface="Poppins"/>
                <a:cs typeface="Poppins"/>
                <a:sym typeface="Poppins"/>
              </a:rPr>
              <a:t>Excellent: 800–850</a:t>
            </a:r>
          </a:p>
          <a:p>
            <a:pPr algn="l" marL="1619248" indent="-404812" lvl="3">
              <a:lnSpc>
                <a:spcPts val="3499"/>
              </a:lnSpc>
              <a:buFont typeface="Arial"/>
              <a:buChar char="￭"/>
            </a:pPr>
            <a:r>
              <a:rPr lang="en-US" sz="2499">
                <a:solidFill>
                  <a:srgbClr val="000000"/>
                </a:solidFill>
                <a:latin typeface="Poppins"/>
                <a:ea typeface="Poppins"/>
                <a:cs typeface="Poppins"/>
                <a:sym typeface="Poppins"/>
              </a:rPr>
              <a:t>Very Good: 740–799</a:t>
            </a:r>
          </a:p>
          <a:p>
            <a:pPr algn="l" marL="1619248" indent="-404812" lvl="3">
              <a:lnSpc>
                <a:spcPts val="3499"/>
              </a:lnSpc>
              <a:buFont typeface="Arial"/>
              <a:buChar char="￭"/>
            </a:pPr>
            <a:r>
              <a:rPr lang="en-US" sz="2499">
                <a:solidFill>
                  <a:srgbClr val="000000"/>
                </a:solidFill>
                <a:latin typeface="Poppins"/>
                <a:ea typeface="Poppins"/>
                <a:cs typeface="Poppins"/>
                <a:sym typeface="Poppins"/>
              </a:rPr>
              <a:t>Good: 670–739</a:t>
            </a:r>
          </a:p>
          <a:p>
            <a:pPr algn="l" marL="1619248" indent="-404812" lvl="3">
              <a:lnSpc>
                <a:spcPts val="3499"/>
              </a:lnSpc>
              <a:buFont typeface="Arial"/>
              <a:buChar char="￭"/>
            </a:pPr>
            <a:r>
              <a:rPr lang="en-US" sz="2499">
                <a:solidFill>
                  <a:srgbClr val="000000"/>
                </a:solidFill>
                <a:latin typeface="Poppins"/>
                <a:ea typeface="Poppins"/>
                <a:cs typeface="Poppins"/>
                <a:sym typeface="Poppins"/>
              </a:rPr>
              <a:t>Fair: 580–669</a:t>
            </a:r>
          </a:p>
          <a:p>
            <a:pPr algn="l" marL="1619248" indent="-404812" lvl="3">
              <a:lnSpc>
                <a:spcPts val="3499"/>
              </a:lnSpc>
              <a:buFont typeface="Arial"/>
              <a:buChar char="￭"/>
            </a:pPr>
            <a:r>
              <a:rPr lang="en-US" sz="2499">
                <a:solidFill>
                  <a:srgbClr val="000000"/>
                </a:solidFill>
                <a:latin typeface="Poppins"/>
                <a:ea typeface="Poppins"/>
                <a:cs typeface="Poppins"/>
                <a:sym typeface="Poppins"/>
              </a:rPr>
              <a:t>Poor: 300–579</a:t>
            </a:r>
          </a:p>
          <a:p>
            <a:pPr algn="l" marL="539749" indent="-269875" lvl="1">
              <a:lnSpc>
                <a:spcPts val="3499"/>
              </a:lnSpc>
              <a:buFont typeface="Arial"/>
              <a:buChar char="•"/>
            </a:pPr>
            <a:r>
              <a:rPr lang="en-US" sz="2499">
                <a:solidFill>
                  <a:srgbClr val="000000"/>
                </a:solidFill>
                <a:latin typeface="Poppins"/>
                <a:ea typeface="Poppins"/>
                <a:cs typeface="Poppins"/>
                <a:sym typeface="Poppins"/>
              </a:rPr>
              <a:t>GeographyID: A numerical identifier that likely corresponds to a geographical location, such as a country or region.</a:t>
            </a:r>
          </a:p>
          <a:p>
            <a:pPr algn="l">
              <a:lnSpc>
                <a:spcPts val="3499"/>
              </a:lnSpc>
            </a:pPr>
            <a:r>
              <a:rPr lang="en-US" sz="2499">
                <a:solidFill>
                  <a:srgbClr val="000000"/>
                </a:solidFill>
                <a:latin typeface="Poppins"/>
                <a:ea typeface="Poppins"/>
                <a:cs typeface="Poppins"/>
                <a:sym typeface="Poppins"/>
              </a:rPr>
              <a:t>GenderID: A numerical identifier for the customer's gender, where for example, '1' could represent male and '2' could represent female.</a:t>
            </a:r>
          </a:p>
        </p:txBody>
      </p:sp>
      <p:sp>
        <p:nvSpPr>
          <p:cNvPr name="AutoShape 5" id="5"/>
          <p:cNvSpPr/>
          <p:nvPr/>
        </p:nvSpPr>
        <p:spPr>
          <a:xfrm>
            <a:off x="5797164" y="1443387"/>
            <a:ext cx="6676380"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593C8F"/>
            </a:solidFill>
          </p:spPr>
        </p:sp>
        <p:sp>
          <p:nvSpPr>
            <p:cNvPr name="TextBox 4" id="4"/>
            <p:cNvSpPr txBox="true"/>
            <p:nvPr/>
          </p:nvSpPr>
          <p:spPr>
            <a:xfrm>
              <a:off x="0" y="-47625"/>
              <a:ext cx="4816593" cy="2756958"/>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20" y="483369"/>
            <a:ext cx="16230580" cy="738537"/>
          </a:xfrm>
          <a:prstGeom prst="rect">
            <a:avLst/>
          </a:prstGeom>
        </p:spPr>
        <p:txBody>
          <a:bodyPr anchor="t" rtlCol="false" tIns="0" lIns="0" bIns="0" rIns="0">
            <a:spAutoFit/>
          </a:bodyPr>
          <a:lstStyle/>
          <a:p>
            <a:pPr algn="ctr">
              <a:lnSpc>
                <a:spcPts val="6018"/>
              </a:lnSpc>
              <a:spcBef>
                <a:spcPct val="0"/>
              </a:spcBef>
            </a:pPr>
            <a:r>
              <a:rPr lang="en-US" sz="4298">
                <a:solidFill>
                  <a:srgbClr val="FFFFFF"/>
                </a:solidFill>
                <a:latin typeface="League Spartan"/>
                <a:ea typeface="League Spartan"/>
                <a:cs typeface="League Spartan"/>
                <a:sym typeface="League Spartan"/>
              </a:rPr>
              <a:t>DATA DESCRIPTION</a:t>
            </a:r>
          </a:p>
        </p:txBody>
      </p:sp>
      <p:sp>
        <p:nvSpPr>
          <p:cNvPr name="AutoShape 6" id="6"/>
          <p:cNvSpPr/>
          <p:nvPr/>
        </p:nvSpPr>
        <p:spPr>
          <a:xfrm flipV="true">
            <a:off x="6263005" y="1202556"/>
            <a:ext cx="5761990" cy="19050"/>
          </a:xfrm>
          <a:prstGeom prst="line">
            <a:avLst/>
          </a:prstGeom>
          <a:ln cap="flat" w="38100">
            <a:solidFill>
              <a:srgbClr val="FFFFFF"/>
            </a:solidFill>
            <a:prstDash val="solid"/>
            <a:headEnd type="none" len="sm" w="sm"/>
            <a:tailEnd type="none" len="sm" w="sm"/>
          </a:ln>
        </p:spPr>
      </p:sp>
      <p:sp>
        <p:nvSpPr>
          <p:cNvPr name="TextBox 7" id="7"/>
          <p:cNvSpPr txBox="true"/>
          <p:nvPr/>
        </p:nvSpPr>
        <p:spPr>
          <a:xfrm rot="0">
            <a:off x="2677167" y="1835150"/>
            <a:ext cx="13368206" cy="7451725"/>
          </a:xfrm>
          <a:prstGeom prst="rect">
            <a:avLst/>
          </a:prstGeom>
        </p:spPr>
        <p:txBody>
          <a:bodyPr anchor="t" rtlCol="false" tIns="0" lIns="0" bIns="0" rIns="0">
            <a:spAutoFit/>
          </a:bodyPr>
          <a:lstStyle/>
          <a:p>
            <a:pPr algn="l" marL="539748" indent="-269874" lvl="1">
              <a:lnSpc>
                <a:spcPts val="3499"/>
              </a:lnSpc>
              <a:buFont typeface="Arial"/>
              <a:buChar char="•"/>
            </a:pPr>
            <a:r>
              <a:rPr lang="en-US" sz="2499">
                <a:solidFill>
                  <a:srgbClr val="FFFFFF"/>
                </a:solidFill>
                <a:latin typeface="Poppins"/>
                <a:ea typeface="Poppins"/>
                <a:cs typeface="Poppins"/>
                <a:sym typeface="Poppins"/>
              </a:rPr>
              <a:t>NumOfProducts: refers to the number of products that a customer has purchased through the bank. </a:t>
            </a:r>
          </a:p>
          <a:p>
            <a:pPr algn="l" marL="539748" indent="-269874" lvl="1">
              <a:lnSpc>
                <a:spcPts val="3499"/>
              </a:lnSpc>
              <a:buFont typeface="Arial"/>
              <a:buChar char="•"/>
            </a:pPr>
            <a:r>
              <a:rPr lang="en-US" sz="2499">
                <a:solidFill>
                  <a:srgbClr val="FFFFFF"/>
                </a:solidFill>
                <a:latin typeface="Poppins"/>
                <a:ea typeface="Poppins"/>
                <a:cs typeface="Poppins"/>
                <a:sym typeface="Poppins"/>
              </a:rPr>
              <a:t>HasCrCard: denotes whether or not a customer has a credit card. This column is also relevant, since people with a credit card are less likely to leave the bank.</a:t>
            </a:r>
          </a:p>
          <a:p>
            <a:pPr algn="l" marL="539748" indent="-269874" lvl="1">
              <a:lnSpc>
                <a:spcPts val="3499"/>
              </a:lnSpc>
              <a:buFont typeface="Arial"/>
              <a:buChar char="•"/>
            </a:pPr>
            <a:r>
              <a:rPr lang="en-US" sz="2499">
                <a:solidFill>
                  <a:srgbClr val="FFFFFF"/>
                </a:solidFill>
                <a:latin typeface="Poppins"/>
                <a:ea typeface="Poppins"/>
                <a:cs typeface="Poppins"/>
                <a:sym typeface="Poppins"/>
              </a:rPr>
              <a:t>1 represents credit card holder</a:t>
            </a:r>
          </a:p>
          <a:p>
            <a:pPr algn="l" marL="539748" indent="-269874" lvl="1">
              <a:lnSpc>
                <a:spcPts val="3499"/>
              </a:lnSpc>
              <a:buFont typeface="Arial"/>
              <a:buChar char="•"/>
            </a:pPr>
            <a:r>
              <a:rPr lang="en-US" sz="2499">
                <a:solidFill>
                  <a:srgbClr val="FFFFFF"/>
                </a:solidFill>
                <a:latin typeface="Poppins"/>
                <a:ea typeface="Poppins"/>
                <a:cs typeface="Poppins"/>
                <a:sym typeface="Poppins"/>
              </a:rPr>
              <a:t>0 represents non credit card holder</a:t>
            </a:r>
          </a:p>
          <a:p>
            <a:pPr algn="l" marL="539748" indent="-269874" lvl="1">
              <a:lnSpc>
                <a:spcPts val="3499"/>
              </a:lnSpc>
              <a:buFont typeface="Arial"/>
              <a:buChar char="•"/>
            </a:pPr>
            <a:r>
              <a:rPr lang="en-US" sz="2499">
                <a:solidFill>
                  <a:srgbClr val="FFFFFF"/>
                </a:solidFill>
                <a:latin typeface="Poppins"/>
                <a:ea typeface="Poppins"/>
                <a:cs typeface="Poppins"/>
                <a:sym typeface="Poppins"/>
              </a:rPr>
              <a:t>IsActiveMember: active customers are less likely to leave the bank (as per the criteria defined by the bank for identifying the activeness).</a:t>
            </a:r>
          </a:p>
          <a:p>
            <a:pPr algn="l" marL="539748" indent="-269874" lvl="1">
              <a:lnSpc>
                <a:spcPts val="3499"/>
              </a:lnSpc>
              <a:buFont typeface="Arial"/>
              <a:buChar char="•"/>
            </a:pPr>
            <a:r>
              <a:rPr lang="en-US" sz="2499">
                <a:solidFill>
                  <a:srgbClr val="FFFFFF"/>
                </a:solidFill>
                <a:latin typeface="Poppins"/>
                <a:ea typeface="Poppins"/>
                <a:cs typeface="Poppins"/>
                <a:sym typeface="Poppins"/>
              </a:rPr>
              <a:t>1 represents Active Member</a:t>
            </a:r>
          </a:p>
          <a:p>
            <a:pPr algn="l" marL="539748" indent="-269874" lvl="1">
              <a:lnSpc>
                <a:spcPts val="3499"/>
              </a:lnSpc>
              <a:buFont typeface="Arial"/>
              <a:buChar char="•"/>
            </a:pPr>
            <a:r>
              <a:rPr lang="en-US" sz="2499">
                <a:solidFill>
                  <a:srgbClr val="FFFFFF"/>
                </a:solidFill>
                <a:latin typeface="Poppins"/>
                <a:ea typeface="Poppins"/>
                <a:cs typeface="Poppins"/>
                <a:sym typeface="Poppins"/>
              </a:rPr>
              <a:t>0 represents Inactive Member</a:t>
            </a:r>
          </a:p>
          <a:p>
            <a:pPr algn="l" marL="539748" indent="-269874" lvl="1">
              <a:lnSpc>
                <a:spcPts val="3499"/>
              </a:lnSpc>
              <a:buFont typeface="Arial"/>
              <a:buChar char="•"/>
            </a:pPr>
            <a:r>
              <a:rPr lang="en-US" sz="2499">
                <a:solidFill>
                  <a:srgbClr val="FFFFFF"/>
                </a:solidFill>
                <a:latin typeface="Poppins"/>
                <a:ea typeface="Poppins"/>
                <a:cs typeface="Poppins"/>
                <a:sym typeface="Poppins"/>
              </a:rPr>
              <a:t>Estimated Salary: as with balance, people with lower salaries are more likely to leave the bank compared to those with higher salaries.</a:t>
            </a:r>
          </a:p>
          <a:p>
            <a:pPr algn="l" marL="539748" indent="-269874" lvl="1">
              <a:lnSpc>
                <a:spcPts val="3499"/>
              </a:lnSpc>
              <a:buFont typeface="Arial"/>
              <a:buChar char="•"/>
            </a:pPr>
            <a:r>
              <a:rPr lang="en-US" sz="2499">
                <a:solidFill>
                  <a:srgbClr val="FFFFFF"/>
                </a:solidFill>
                <a:latin typeface="Poppins"/>
                <a:ea typeface="Poppins"/>
                <a:cs typeface="Poppins"/>
                <a:sym typeface="Poppins"/>
              </a:rPr>
              <a:t>Exited: whether or not the customer left the bank.</a:t>
            </a:r>
          </a:p>
          <a:p>
            <a:pPr algn="l" marL="539748" indent="-269874" lvl="1">
              <a:lnSpc>
                <a:spcPts val="3499"/>
              </a:lnSpc>
              <a:buFont typeface="Arial"/>
              <a:buChar char="•"/>
            </a:pPr>
            <a:r>
              <a:rPr lang="en-US" sz="2499">
                <a:solidFill>
                  <a:srgbClr val="FFFFFF"/>
                </a:solidFill>
                <a:latin typeface="Poppins"/>
                <a:ea typeface="Poppins"/>
                <a:cs typeface="Poppins"/>
                <a:sym typeface="Poppins"/>
              </a:rPr>
              <a:t>0 represents Retain </a:t>
            </a:r>
          </a:p>
          <a:p>
            <a:pPr algn="l" marL="539748" indent="-269874" lvl="1">
              <a:lnSpc>
                <a:spcPts val="3499"/>
              </a:lnSpc>
              <a:buFont typeface="Arial"/>
              <a:buChar char="•"/>
            </a:pPr>
            <a:r>
              <a:rPr lang="en-US" sz="2499">
                <a:solidFill>
                  <a:srgbClr val="FFFFFF"/>
                </a:solidFill>
                <a:latin typeface="Poppins"/>
                <a:ea typeface="Poppins"/>
                <a:cs typeface="Poppins"/>
                <a:sym typeface="Poppins"/>
              </a:rPr>
              <a:t>1 represents Exit</a:t>
            </a:r>
          </a:p>
          <a:p>
            <a:pPr algn="l" marL="539748" indent="-269874" lvl="1">
              <a:lnSpc>
                <a:spcPts val="3499"/>
              </a:lnSpc>
              <a:buFont typeface="Arial"/>
              <a:buChar char="•"/>
            </a:pPr>
            <a:r>
              <a:rPr lang="en-US" sz="2499">
                <a:solidFill>
                  <a:srgbClr val="FFFFFF"/>
                </a:solidFill>
                <a:latin typeface="Poppins"/>
                <a:ea typeface="Poppins"/>
                <a:cs typeface="Poppins"/>
                <a:sym typeface="Poppins"/>
              </a:rPr>
              <a:t>Bank DOJ: date when the Customer associated/joined with the bank.</a:t>
            </a:r>
          </a:p>
          <a:p>
            <a:pPr algn="l">
              <a:lnSpc>
                <a:spcPts val="349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false" flipV="false" rot="0">
            <a:off x="7368733" y="4801578"/>
            <a:ext cx="392717" cy="1565177"/>
          </a:xfrm>
          <a:custGeom>
            <a:avLst/>
            <a:gdLst/>
            <a:ahLst/>
            <a:cxnLst/>
            <a:rect r="r" b="b" t="t" l="l"/>
            <a:pathLst>
              <a:path h="1565177" w="392717">
                <a:moveTo>
                  <a:pt x="0" y="0"/>
                </a:moveTo>
                <a:lnTo>
                  <a:pt x="392717" y="0"/>
                </a:lnTo>
                <a:lnTo>
                  <a:pt x="392717" y="1565178"/>
                </a:lnTo>
                <a:lnTo>
                  <a:pt x="0" y="15651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104350" y="3066584"/>
            <a:ext cx="9759197" cy="5035167"/>
          </a:xfrm>
          <a:custGeom>
            <a:avLst/>
            <a:gdLst/>
            <a:ahLst/>
            <a:cxnLst/>
            <a:rect r="r" b="b" t="t" l="l"/>
            <a:pathLst>
              <a:path h="5035167" w="9759197">
                <a:moveTo>
                  <a:pt x="0" y="0"/>
                </a:moveTo>
                <a:lnTo>
                  <a:pt x="9759197" y="0"/>
                </a:lnTo>
                <a:lnTo>
                  <a:pt x="9759197" y="5035166"/>
                </a:lnTo>
                <a:lnTo>
                  <a:pt x="0" y="5035166"/>
                </a:lnTo>
                <a:lnTo>
                  <a:pt x="0" y="0"/>
                </a:lnTo>
                <a:close/>
              </a:path>
            </a:pathLst>
          </a:custGeom>
          <a:blipFill>
            <a:blip r:embed="rId5"/>
            <a:stretch>
              <a:fillRect l="-1332" t="0" r="-1332" b="0"/>
            </a:stretch>
          </a:blipFill>
        </p:spPr>
      </p:sp>
      <p:sp>
        <p:nvSpPr>
          <p:cNvPr name="TextBox 5" id="5"/>
          <p:cNvSpPr txBox="true"/>
          <p:nvPr/>
        </p:nvSpPr>
        <p:spPr>
          <a:xfrm rot="0">
            <a:off x="1028700" y="2482192"/>
            <a:ext cx="6001517" cy="613727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Poppins"/>
                <a:ea typeface="Poppins"/>
                <a:cs typeface="Poppins"/>
                <a:sym typeface="Poppins"/>
              </a:rPr>
              <a:t>Chu</a:t>
            </a:r>
            <a:r>
              <a:rPr lang="en-US" sz="2499">
                <a:solidFill>
                  <a:srgbClr val="000000"/>
                </a:solidFill>
                <a:latin typeface="Poppins"/>
                <a:ea typeface="Poppins"/>
                <a:cs typeface="Poppins"/>
                <a:sym typeface="Poppins"/>
              </a:rPr>
              <a:t>rn increased sharply from 2016 to 2017</a:t>
            </a:r>
          </a:p>
          <a:p>
            <a:pPr algn="l" marL="539749" indent="-269875" lvl="1">
              <a:lnSpc>
                <a:spcPts val="3499"/>
              </a:lnSpc>
              <a:buFont typeface="Arial"/>
              <a:buChar char="•"/>
            </a:pPr>
            <a:r>
              <a:rPr lang="en-US" sz="2499">
                <a:solidFill>
                  <a:srgbClr val="000000"/>
                </a:solidFill>
                <a:latin typeface="Poppins"/>
                <a:ea typeface="Poppins"/>
                <a:cs typeface="Poppins"/>
                <a:sym typeface="Poppins"/>
              </a:rPr>
              <a:t>Then consistently declined from 2017 to 2019</a:t>
            </a:r>
          </a:p>
          <a:p>
            <a:pPr algn="l" marL="539749" indent="-269875" lvl="1">
              <a:lnSpc>
                <a:spcPts val="3499"/>
              </a:lnSpc>
              <a:buFont typeface="Arial"/>
              <a:buChar char="•"/>
            </a:pPr>
            <a:r>
              <a:rPr lang="en-US" sz="2499">
                <a:solidFill>
                  <a:srgbClr val="000000"/>
                </a:solidFill>
                <a:latin typeface="Poppins"/>
                <a:ea typeface="Poppins"/>
                <a:cs typeface="Poppins"/>
                <a:sym typeface="Poppins"/>
              </a:rPr>
              <a:t>2018: 20.21% (significant improvement)</a:t>
            </a:r>
          </a:p>
          <a:p>
            <a:pPr algn="l" marL="539749" indent="-269875" lvl="1">
              <a:lnSpc>
                <a:spcPts val="3499"/>
              </a:lnSpc>
              <a:buFont typeface="Arial"/>
              <a:buChar char="•"/>
            </a:pPr>
            <a:r>
              <a:rPr lang="en-US" sz="2499">
                <a:solidFill>
                  <a:srgbClr val="000000"/>
                </a:solidFill>
                <a:latin typeface="Poppins"/>
                <a:ea typeface="Poppins"/>
                <a:cs typeface="Poppins"/>
                <a:sym typeface="Poppins"/>
              </a:rPr>
              <a:t>2019: 19.86% (almost back to 2016 level)</a:t>
            </a:r>
          </a:p>
          <a:p>
            <a:pPr algn="l" marL="539749" indent="-269875" lvl="1">
              <a:lnSpc>
                <a:spcPts val="3499"/>
              </a:lnSpc>
              <a:buFont typeface="Arial"/>
              <a:buChar char="•"/>
            </a:pPr>
            <a:r>
              <a:rPr lang="en-US" sz="2499">
                <a:solidFill>
                  <a:srgbClr val="000000"/>
                </a:solidFill>
                <a:latin typeface="Poppins"/>
                <a:ea typeface="Poppins"/>
                <a:cs typeface="Poppins"/>
                <a:sym typeface="Poppins"/>
              </a:rPr>
              <a:t>Suggests successful retention strategies or operational improvements</a:t>
            </a:r>
          </a:p>
          <a:p>
            <a:pPr algn="l" marL="539749" indent="-269875" lvl="1">
              <a:lnSpc>
                <a:spcPts val="3499"/>
              </a:lnSpc>
              <a:buFont typeface="Arial"/>
              <a:buChar char="•"/>
            </a:pPr>
            <a:r>
              <a:rPr lang="en-US" sz="2499">
                <a:solidFill>
                  <a:srgbClr val="000000"/>
                </a:solidFill>
                <a:latin typeface="Poppins"/>
                <a:ea typeface="Poppins"/>
                <a:cs typeface="Poppins"/>
                <a:sym typeface="Poppins"/>
              </a:rPr>
              <a:t>2019: 19.86% (almost back to 2016 level)</a:t>
            </a:r>
          </a:p>
          <a:p>
            <a:pPr algn="l">
              <a:lnSpc>
                <a:spcPts val="3499"/>
              </a:lnSpc>
              <a:spcBef>
                <a:spcPct val="0"/>
              </a:spcBef>
            </a:pPr>
          </a:p>
        </p:txBody>
      </p:sp>
      <p:sp>
        <p:nvSpPr>
          <p:cNvPr name="TextBox 6" id="6"/>
          <p:cNvSpPr txBox="true"/>
          <p:nvPr/>
        </p:nvSpPr>
        <p:spPr>
          <a:xfrm rot="0">
            <a:off x="1028720" y="271113"/>
            <a:ext cx="16230580" cy="738537"/>
          </a:xfrm>
          <a:prstGeom prst="rect">
            <a:avLst/>
          </a:prstGeom>
        </p:spPr>
        <p:txBody>
          <a:bodyPr anchor="t" rtlCol="false" tIns="0" lIns="0" bIns="0" rIns="0">
            <a:spAutoFit/>
          </a:bodyPr>
          <a:lstStyle/>
          <a:p>
            <a:pPr algn="ctr">
              <a:lnSpc>
                <a:spcPts val="6018"/>
              </a:lnSpc>
              <a:spcBef>
                <a:spcPct val="0"/>
              </a:spcBef>
            </a:pPr>
            <a:r>
              <a:rPr lang="en-US" sz="4298">
                <a:solidFill>
                  <a:srgbClr val="593C8F"/>
                </a:solidFill>
                <a:latin typeface="League Spartan"/>
                <a:ea typeface="League Spartan"/>
                <a:cs typeface="League Spartan"/>
                <a:sym typeface="League Spartan"/>
              </a:rPr>
              <a:t>CHURN RATE ANALYSIS</a:t>
            </a:r>
          </a:p>
        </p:txBody>
      </p:sp>
      <p:sp>
        <p:nvSpPr>
          <p:cNvPr name="AutoShape 7" id="7"/>
          <p:cNvSpPr/>
          <p:nvPr/>
        </p:nvSpPr>
        <p:spPr>
          <a:xfrm>
            <a:off x="5396764" y="1009650"/>
            <a:ext cx="7692781"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false" flipV="false" rot="0">
            <a:off x="8770343" y="4141836"/>
            <a:ext cx="392717" cy="1565177"/>
          </a:xfrm>
          <a:custGeom>
            <a:avLst/>
            <a:gdLst/>
            <a:ahLst/>
            <a:cxnLst/>
            <a:rect r="r" b="b" t="t" l="l"/>
            <a:pathLst>
              <a:path h="1565177" w="392717">
                <a:moveTo>
                  <a:pt x="0" y="0"/>
                </a:moveTo>
                <a:lnTo>
                  <a:pt x="392717" y="0"/>
                </a:lnTo>
                <a:lnTo>
                  <a:pt x="392717" y="1565178"/>
                </a:lnTo>
                <a:lnTo>
                  <a:pt x="0" y="15651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20" y="271113"/>
            <a:ext cx="16230580" cy="738537"/>
          </a:xfrm>
          <a:prstGeom prst="rect">
            <a:avLst/>
          </a:prstGeom>
        </p:spPr>
        <p:txBody>
          <a:bodyPr anchor="t" rtlCol="false" tIns="0" lIns="0" bIns="0" rIns="0">
            <a:spAutoFit/>
          </a:bodyPr>
          <a:lstStyle/>
          <a:p>
            <a:pPr algn="ctr">
              <a:lnSpc>
                <a:spcPts val="6018"/>
              </a:lnSpc>
              <a:spcBef>
                <a:spcPct val="0"/>
              </a:spcBef>
            </a:pPr>
            <a:r>
              <a:rPr lang="en-US" sz="4298">
                <a:solidFill>
                  <a:srgbClr val="593C8F"/>
                </a:solidFill>
                <a:latin typeface="League Spartan"/>
                <a:ea typeface="League Spartan"/>
                <a:cs typeface="League Spartan"/>
                <a:sym typeface="League Spartan"/>
              </a:rPr>
              <a:t>CUSTOMERS TENURE &amp; EXIT CATEGORY</a:t>
            </a:r>
          </a:p>
        </p:txBody>
      </p:sp>
      <p:sp>
        <p:nvSpPr>
          <p:cNvPr name="AutoShape 5" id="5"/>
          <p:cNvSpPr/>
          <p:nvPr/>
        </p:nvSpPr>
        <p:spPr>
          <a:xfrm>
            <a:off x="3117133" y="1009650"/>
            <a:ext cx="12005214" cy="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255210" y="2851120"/>
            <a:ext cx="7846948" cy="4146610"/>
          </a:xfrm>
          <a:custGeom>
            <a:avLst/>
            <a:gdLst/>
            <a:ahLst/>
            <a:cxnLst/>
            <a:rect r="r" b="b" t="t" l="l"/>
            <a:pathLst>
              <a:path h="4146610" w="7846948">
                <a:moveTo>
                  <a:pt x="0" y="0"/>
                </a:moveTo>
                <a:lnTo>
                  <a:pt x="7846948" y="0"/>
                </a:lnTo>
                <a:lnTo>
                  <a:pt x="7846948" y="4146610"/>
                </a:lnTo>
                <a:lnTo>
                  <a:pt x="0" y="4146610"/>
                </a:lnTo>
                <a:lnTo>
                  <a:pt x="0" y="0"/>
                </a:lnTo>
                <a:close/>
              </a:path>
            </a:pathLst>
          </a:custGeom>
          <a:blipFill>
            <a:blip r:embed="rId5"/>
            <a:stretch>
              <a:fillRect l="0" t="0" r="0" b="0"/>
            </a:stretch>
          </a:blipFill>
        </p:spPr>
      </p:sp>
      <p:sp>
        <p:nvSpPr>
          <p:cNvPr name="TextBox 7" id="7"/>
          <p:cNvSpPr txBox="true"/>
          <p:nvPr/>
        </p:nvSpPr>
        <p:spPr>
          <a:xfrm rot="0">
            <a:off x="9683509" y="2041525"/>
            <a:ext cx="8311519" cy="56991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Poppins"/>
                <a:ea typeface="Poppins"/>
                <a:cs typeface="Poppins"/>
                <a:sym typeface="Poppins"/>
              </a:rPr>
              <a:t>The</a:t>
            </a:r>
            <a:r>
              <a:rPr lang="en-US" sz="2499">
                <a:solidFill>
                  <a:srgbClr val="000000"/>
                </a:solidFill>
                <a:latin typeface="Poppins"/>
                <a:ea typeface="Poppins"/>
                <a:cs typeface="Poppins"/>
                <a:sym typeface="Poppins"/>
              </a:rPr>
              <a:t> highest number of customers are in 4 and 5 years tenure, indicating strong retention during this period.</a:t>
            </a:r>
          </a:p>
          <a:p>
            <a:pPr algn="l" marL="539749" indent="-269875" lvl="1">
              <a:lnSpc>
                <a:spcPts val="3499"/>
              </a:lnSpc>
              <a:buFont typeface="Arial"/>
              <a:buChar char="•"/>
            </a:pPr>
            <a:r>
              <a:rPr lang="en-US" sz="2499">
                <a:solidFill>
                  <a:srgbClr val="000000"/>
                </a:solidFill>
                <a:latin typeface="Poppins"/>
                <a:ea typeface="Poppins"/>
                <a:cs typeface="Poppins"/>
                <a:sym typeface="Poppins"/>
              </a:rPr>
              <a:t>Targeted engagement and loyalty programs around 4–5 years tenure could significantly lower exit rates and improve lifetime value.</a:t>
            </a:r>
          </a:p>
          <a:p>
            <a:pPr algn="l" marL="539749" indent="-269875" lvl="1">
              <a:lnSpc>
                <a:spcPts val="3499"/>
              </a:lnSpc>
              <a:buFont typeface="Arial"/>
              <a:buChar char="•"/>
            </a:pPr>
            <a:r>
              <a:rPr lang="en-US" sz="2499">
                <a:solidFill>
                  <a:srgbClr val="000000"/>
                </a:solidFill>
                <a:latin typeface="Poppins"/>
                <a:ea typeface="Poppins"/>
                <a:cs typeface="Poppins"/>
                <a:sym typeface="Poppins"/>
              </a:rPr>
              <a:t>Despite high retention, exit counts (~0.6K) are also highest here, making this a critical churn risk window.</a:t>
            </a:r>
          </a:p>
          <a:p>
            <a:pPr algn="l" marL="539749" indent="-269875" lvl="1">
              <a:lnSpc>
                <a:spcPts val="3499"/>
              </a:lnSpc>
              <a:buFont typeface="Arial"/>
              <a:buChar char="•"/>
            </a:pPr>
            <a:r>
              <a:rPr lang="en-US" sz="2499">
                <a:solidFill>
                  <a:srgbClr val="000000"/>
                </a:solidFill>
                <a:latin typeface="Poppins"/>
                <a:ea typeface="Poppins"/>
                <a:cs typeface="Poppins"/>
                <a:sym typeface="Poppins"/>
              </a:rPr>
              <a:t>From 6 to 7 years, total customers drop sharply, suggesting long-term retention challenges.</a:t>
            </a:r>
          </a:p>
          <a:p>
            <a:pPr algn="l">
              <a:lnSpc>
                <a:spcPts val="3499"/>
              </a:lnSpc>
            </a:pPr>
          </a:p>
          <a:p>
            <a:pPr algn="l">
              <a:lnSpc>
                <a:spcPts val="349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false" flipV="false" rot="0">
            <a:off x="7368733" y="4801578"/>
            <a:ext cx="392717" cy="1565177"/>
          </a:xfrm>
          <a:custGeom>
            <a:avLst/>
            <a:gdLst/>
            <a:ahLst/>
            <a:cxnLst/>
            <a:rect r="r" b="b" t="t" l="l"/>
            <a:pathLst>
              <a:path h="1565177" w="392717">
                <a:moveTo>
                  <a:pt x="0" y="0"/>
                </a:moveTo>
                <a:lnTo>
                  <a:pt x="392717" y="0"/>
                </a:lnTo>
                <a:lnTo>
                  <a:pt x="392717" y="1565178"/>
                </a:lnTo>
                <a:lnTo>
                  <a:pt x="0" y="15651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20" y="271113"/>
            <a:ext cx="16230580" cy="738537"/>
          </a:xfrm>
          <a:prstGeom prst="rect">
            <a:avLst/>
          </a:prstGeom>
        </p:spPr>
        <p:txBody>
          <a:bodyPr anchor="t" rtlCol="false" tIns="0" lIns="0" bIns="0" rIns="0">
            <a:spAutoFit/>
          </a:bodyPr>
          <a:lstStyle/>
          <a:p>
            <a:pPr algn="ctr">
              <a:lnSpc>
                <a:spcPts val="6018"/>
              </a:lnSpc>
              <a:spcBef>
                <a:spcPct val="0"/>
              </a:spcBef>
            </a:pPr>
            <a:r>
              <a:rPr lang="en-US" sz="4298">
                <a:solidFill>
                  <a:srgbClr val="593C8F"/>
                </a:solidFill>
                <a:latin typeface="League Spartan"/>
                <a:ea typeface="League Spartan"/>
                <a:cs typeface="League Spartan"/>
                <a:sym typeface="League Spartan"/>
              </a:rPr>
              <a:t>CUSTOMER BY CREDIT SCORE &amp; GEOGRAPHY</a:t>
            </a:r>
          </a:p>
        </p:txBody>
      </p:sp>
      <p:sp>
        <p:nvSpPr>
          <p:cNvPr name="AutoShape 5" id="5"/>
          <p:cNvSpPr/>
          <p:nvPr/>
        </p:nvSpPr>
        <p:spPr>
          <a:xfrm>
            <a:off x="1977960" y="1009650"/>
            <a:ext cx="14222421" cy="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8207690" y="3037652"/>
            <a:ext cx="9376318" cy="4890955"/>
          </a:xfrm>
          <a:custGeom>
            <a:avLst/>
            <a:gdLst/>
            <a:ahLst/>
            <a:cxnLst/>
            <a:rect r="r" b="b" t="t" l="l"/>
            <a:pathLst>
              <a:path h="4890955" w="9376318">
                <a:moveTo>
                  <a:pt x="0" y="0"/>
                </a:moveTo>
                <a:lnTo>
                  <a:pt x="9376318" y="0"/>
                </a:lnTo>
                <a:lnTo>
                  <a:pt x="9376318" y="4890955"/>
                </a:lnTo>
                <a:lnTo>
                  <a:pt x="0" y="4890955"/>
                </a:lnTo>
                <a:lnTo>
                  <a:pt x="0" y="0"/>
                </a:lnTo>
                <a:close/>
              </a:path>
            </a:pathLst>
          </a:custGeom>
          <a:blipFill>
            <a:blip r:embed="rId5"/>
            <a:stretch>
              <a:fillRect l="0" t="0" r="0" b="0"/>
            </a:stretch>
          </a:blipFill>
        </p:spPr>
      </p:sp>
      <p:sp>
        <p:nvSpPr>
          <p:cNvPr name="TextBox 7" id="7"/>
          <p:cNvSpPr txBox="true"/>
          <p:nvPr/>
        </p:nvSpPr>
        <p:spPr>
          <a:xfrm rot="0">
            <a:off x="1028700" y="2348842"/>
            <a:ext cx="6001517" cy="74517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Poppins"/>
                <a:ea typeface="Poppins"/>
                <a:cs typeface="Poppins"/>
                <a:sym typeface="Poppins"/>
              </a:rPr>
              <a:t>The largest customer concentration is in the “Fair” segment, especially in France, followed by Germany and Spain</a:t>
            </a:r>
          </a:p>
          <a:p>
            <a:pPr algn="l" marL="539749" indent="-269875" lvl="1">
              <a:lnSpc>
                <a:spcPts val="3499"/>
              </a:lnSpc>
              <a:buFont typeface="Arial"/>
              <a:buChar char="•"/>
            </a:pPr>
            <a:r>
              <a:rPr lang="en-US" sz="2499">
                <a:solidFill>
                  <a:srgbClr val="000000"/>
                </a:solidFill>
                <a:latin typeface="Poppins"/>
                <a:ea typeface="Poppins"/>
                <a:cs typeface="Poppins"/>
                <a:sym typeface="Poppins"/>
              </a:rPr>
              <a:t>Across Fair, Good, and Poor scores, France consistently contributes the largest share of customers.</a:t>
            </a:r>
          </a:p>
          <a:p>
            <a:pPr algn="l" marL="539749" indent="-269875" lvl="1">
              <a:lnSpc>
                <a:spcPts val="3499"/>
              </a:lnSpc>
              <a:buFont typeface="Arial"/>
              <a:buChar char="•"/>
            </a:pPr>
            <a:r>
              <a:rPr lang="en-US" sz="2499">
                <a:solidFill>
                  <a:srgbClr val="000000"/>
                </a:solidFill>
                <a:latin typeface="Poppins"/>
                <a:ea typeface="Poppins"/>
                <a:cs typeface="Poppins"/>
                <a:sym typeface="Poppins"/>
              </a:rPr>
              <a:t>Very Good and Excellent segments have significantly fewer customers, indicating limited presence of high-credit customers.</a:t>
            </a:r>
          </a:p>
          <a:p>
            <a:pPr algn="l" marL="539749" indent="-269875" lvl="1">
              <a:lnSpc>
                <a:spcPts val="3499"/>
              </a:lnSpc>
              <a:buFont typeface="Arial"/>
              <a:buChar char="•"/>
            </a:pPr>
            <a:r>
              <a:rPr lang="en-US" sz="2499">
                <a:solidFill>
                  <a:srgbClr val="000000"/>
                </a:solidFill>
                <a:latin typeface="Poppins"/>
                <a:ea typeface="Poppins"/>
                <a:cs typeface="Poppins"/>
                <a:sym typeface="Poppins"/>
              </a:rPr>
              <a:t>The low count in Very Good &amp; Excellent segments highlights a growth opportunity for premium products and low-risk customers.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false" flipV="false" rot="0">
            <a:off x="8770343" y="4141836"/>
            <a:ext cx="392717" cy="1565177"/>
          </a:xfrm>
          <a:custGeom>
            <a:avLst/>
            <a:gdLst/>
            <a:ahLst/>
            <a:cxnLst/>
            <a:rect r="r" b="b" t="t" l="l"/>
            <a:pathLst>
              <a:path h="1565177" w="392717">
                <a:moveTo>
                  <a:pt x="0" y="0"/>
                </a:moveTo>
                <a:lnTo>
                  <a:pt x="392717" y="0"/>
                </a:lnTo>
                <a:lnTo>
                  <a:pt x="392717" y="1565178"/>
                </a:lnTo>
                <a:lnTo>
                  <a:pt x="0" y="15651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20" y="271113"/>
            <a:ext cx="16230580" cy="738537"/>
          </a:xfrm>
          <a:prstGeom prst="rect">
            <a:avLst/>
          </a:prstGeom>
        </p:spPr>
        <p:txBody>
          <a:bodyPr anchor="t" rtlCol="false" tIns="0" lIns="0" bIns="0" rIns="0">
            <a:spAutoFit/>
          </a:bodyPr>
          <a:lstStyle/>
          <a:p>
            <a:pPr algn="ctr">
              <a:lnSpc>
                <a:spcPts val="6018"/>
              </a:lnSpc>
              <a:spcBef>
                <a:spcPct val="0"/>
              </a:spcBef>
            </a:pPr>
            <a:r>
              <a:rPr lang="en-US" sz="4298">
                <a:solidFill>
                  <a:srgbClr val="593C8F"/>
                </a:solidFill>
                <a:latin typeface="League Spartan"/>
                <a:ea typeface="League Spartan"/>
                <a:cs typeface="League Spartan"/>
                <a:sym typeface="League Spartan"/>
              </a:rPr>
              <a:t>CREDIT SCORE ACROSS AGE</a:t>
            </a:r>
          </a:p>
        </p:txBody>
      </p:sp>
      <p:sp>
        <p:nvSpPr>
          <p:cNvPr name="AutoShape 5" id="5"/>
          <p:cNvSpPr/>
          <p:nvPr/>
        </p:nvSpPr>
        <p:spPr>
          <a:xfrm>
            <a:off x="3117133" y="1009650"/>
            <a:ext cx="12005214" cy="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439704" y="2733508"/>
            <a:ext cx="8136269" cy="4324684"/>
          </a:xfrm>
          <a:custGeom>
            <a:avLst/>
            <a:gdLst/>
            <a:ahLst/>
            <a:cxnLst/>
            <a:rect r="r" b="b" t="t" l="l"/>
            <a:pathLst>
              <a:path h="4324684" w="8136269">
                <a:moveTo>
                  <a:pt x="0" y="0"/>
                </a:moveTo>
                <a:lnTo>
                  <a:pt x="8136269" y="0"/>
                </a:lnTo>
                <a:lnTo>
                  <a:pt x="8136269" y="4324684"/>
                </a:lnTo>
                <a:lnTo>
                  <a:pt x="0" y="4324684"/>
                </a:lnTo>
                <a:lnTo>
                  <a:pt x="0" y="0"/>
                </a:lnTo>
                <a:close/>
              </a:path>
            </a:pathLst>
          </a:custGeom>
          <a:blipFill>
            <a:blip r:embed="rId5"/>
            <a:stretch>
              <a:fillRect l="0" t="0" r="0" b="0"/>
            </a:stretch>
          </a:blipFill>
        </p:spPr>
      </p:sp>
      <p:sp>
        <p:nvSpPr>
          <p:cNvPr name="TextBox 7" id="7"/>
          <p:cNvSpPr txBox="true"/>
          <p:nvPr/>
        </p:nvSpPr>
        <p:spPr>
          <a:xfrm rot="0">
            <a:off x="9683509" y="2041525"/>
            <a:ext cx="8311519" cy="526097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Poppins"/>
                <a:ea typeface="Poppins"/>
                <a:cs typeface="Poppins"/>
                <a:sym typeface="Poppins"/>
              </a:rPr>
              <a:t>This segment has the highest customer count, driven mainly by 18–50 age groups, making it the bank’s core customer base.</a:t>
            </a:r>
          </a:p>
          <a:p>
            <a:pPr algn="l" marL="539749" indent="-269875" lvl="1">
              <a:lnSpc>
                <a:spcPts val="3499"/>
              </a:lnSpc>
              <a:buFont typeface="Arial"/>
              <a:buChar char="•"/>
            </a:pPr>
            <a:r>
              <a:rPr lang="en-US" sz="2499">
                <a:solidFill>
                  <a:srgbClr val="000000"/>
                </a:solidFill>
                <a:latin typeface="Poppins"/>
                <a:ea typeface="Poppins"/>
                <a:cs typeface="Poppins"/>
                <a:sym typeface="Poppins"/>
              </a:rPr>
              <a:t>18–34 and 35–50 customers consistently contribute the largest share, indicating active earning and borrowing segments.</a:t>
            </a:r>
          </a:p>
          <a:p>
            <a:pPr algn="l" marL="539749" indent="-269875" lvl="1">
              <a:lnSpc>
                <a:spcPts val="3499"/>
              </a:lnSpc>
              <a:buFont typeface="Arial"/>
              <a:buChar char="•"/>
            </a:pPr>
            <a:r>
              <a:rPr lang="en-US" sz="2499">
                <a:solidFill>
                  <a:srgbClr val="000000"/>
                </a:solidFill>
                <a:latin typeface="Poppins"/>
                <a:ea typeface="Poppins"/>
                <a:cs typeface="Poppins"/>
                <a:sym typeface="Poppins"/>
              </a:rPr>
              <a:t>Very Good (740–799) and Excellent (800–850) segments show low volume, but represent low-risk, high-value customers.</a:t>
            </a:r>
          </a:p>
          <a:p>
            <a:pPr algn="l" marL="539749" indent="-269875" lvl="1">
              <a:lnSpc>
                <a:spcPts val="3499"/>
              </a:lnSpc>
              <a:spcBef>
                <a:spcPct val="0"/>
              </a:spcBef>
              <a:buFont typeface="Arial"/>
              <a:buChar char="•"/>
            </a:pPr>
            <a:r>
              <a:rPr lang="en-US" sz="2499">
                <a:solidFill>
                  <a:srgbClr val="000000"/>
                </a:solidFill>
                <a:latin typeface="Poppins"/>
                <a:ea typeface="Poppins"/>
                <a:cs typeface="Poppins"/>
                <a:sym typeface="Poppins"/>
              </a:rPr>
              <a:t>Most 300–579 (Poor) credit score customers are below 50, highlighting a need for credit improvement and financial literacy programs.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false" flipV="false" rot="0">
            <a:off x="7368733" y="4801578"/>
            <a:ext cx="392717" cy="1565177"/>
          </a:xfrm>
          <a:custGeom>
            <a:avLst/>
            <a:gdLst/>
            <a:ahLst/>
            <a:cxnLst/>
            <a:rect r="r" b="b" t="t" l="l"/>
            <a:pathLst>
              <a:path h="1565177" w="392717">
                <a:moveTo>
                  <a:pt x="0" y="0"/>
                </a:moveTo>
                <a:lnTo>
                  <a:pt x="392717" y="0"/>
                </a:lnTo>
                <a:lnTo>
                  <a:pt x="392717" y="1565178"/>
                </a:lnTo>
                <a:lnTo>
                  <a:pt x="0" y="15651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20" y="271113"/>
            <a:ext cx="16230580" cy="738537"/>
          </a:xfrm>
          <a:prstGeom prst="rect">
            <a:avLst/>
          </a:prstGeom>
        </p:spPr>
        <p:txBody>
          <a:bodyPr anchor="t" rtlCol="false" tIns="0" lIns="0" bIns="0" rIns="0">
            <a:spAutoFit/>
          </a:bodyPr>
          <a:lstStyle/>
          <a:p>
            <a:pPr algn="ctr">
              <a:lnSpc>
                <a:spcPts val="6018"/>
              </a:lnSpc>
              <a:spcBef>
                <a:spcPct val="0"/>
              </a:spcBef>
            </a:pPr>
            <a:r>
              <a:rPr lang="en-US" sz="4298">
                <a:solidFill>
                  <a:srgbClr val="593C8F"/>
                </a:solidFill>
                <a:latin typeface="League Spartan"/>
                <a:ea typeface="League Spartan"/>
                <a:cs typeface="League Spartan"/>
                <a:sym typeface="League Spartan"/>
              </a:rPr>
              <a:t>CUSTOMERS SALARY RANGE</a:t>
            </a:r>
          </a:p>
        </p:txBody>
      </p:sp>
      <p:sp>
        <p:nvSpPr>
          <p:cNvPr name="AutoShape 5" id="5"/>
          <p:cNvSpPr/>
          <p:nvPr/>
        </p:nvSpPr>
        <p:spPr>
          <a:xfrm>
            <a:off x="1977960" y="1009650"/>
            <a:ext cx="14222421" cy="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8442851" y="2621381"/>
            <a:ext cx="8816449" cy="5044237"/>
          </a:xfrm>
          <a:custGeom>
            <a:avLst/>
            <a:gdLst/>
            <a:ahLst/>
            <a:cxnLst/>
            <a:rect r="r" b="b" t="t" l="l"/>
            <a:pathLst>
              <a:path h="5044237" w="8816449">
                <a:moveTo>
                  <a:pt x="0" y="0"/>
                </a:moveTo>
                <a:lnTo>
                  <a:pt x="8816449" y="0"/>
                </a:lnTo>
                <a:lnTo>
                  <a:pt x="8816449" y="5044238"/>
                </a:lnTo>
                <a:lnTo>
                  <a:pt x="0" y="5044238"/>
                </a:lnTo>
                <a:lnTo>
                  <a:pt x="0" y="0"/>
                </a:lnTo>
                <a:close/>
              </a:path>
            </a:pathLst>
          </a:custGeom>
          <a:blipFill>
            <a:blip r:embed="rId5"/>
            <a:stretch>
              <a:fillRect l="0" t="0" r="0" b="0"/>
            </a:stretch>
          </a:blipFill>
        </p:spPr>
      </p:sp>
      <p:sp>
        <p:nvSpPr>
          <p:cNvPr name="TextBox 7" id="7"/>
          <p:cNvSpPr txBox="true"/>
          <p:nvPr/>
        </p:nvSpPr>
        <p:spPr>
          <a:xfrm rot="0">
            <a:off x="1028700" y="2348842"/>
            <a:ext cx="6001517" cy="701357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Poppins"/>
                <a:ea typeface="Poppins"/>
                <a:cs typeface="Poppins"/>
                <a:sym typeface="Poppins"/>
              </a:rPr>
              <a:t>The highest salary range has the largest customer count (~5K), indicating a financially strong core customer base.</a:t>
            </a:r>
          </a:p>
          <a:p>
            <a:pPr algn="l" marL="539749" indent="-269875" lvl="1">
              <a:lnSpc>
                <a:spcPts val="3499"/>
              </a:lnSpc>
              <a:buFont typeface="Arial"/>
              <a:buChar char="•"/>
            </a:pPr>
            <a:r>
              <a:rPr lang="en-US" sz="2499">
                <a:solidFill>
                  <a:srgbClr val="000000"/>
                </a:solidFill>
                <a:latin typeface="Poppins"/>
                <a:ea typeface="Poppins"/>
                <a:cs typeface="Poppins"/>
                <a:sym typeface="Poppins"/>
              </a:rPr>
              <a:t>Salaries in the ₹50K+ range (~2.5K customers) show good representation, suitable for loan and investment products.</a:t>
            </a:r>
          </a:p>
          <a:p>
            <a:pPr algn="l" marL="539749" indent="-269875" lvl="1">
              <a:lnSpc>
                <a:spcPts val="3499"/>
              </a:lnSpc>
              <a:buFont typeface="Arial"/>
              <a:buChar char="•"/>
            </a:pPr>
            <a:r>
              <a:rPr lang="en-US" sz="2499">
                <a:solidFill>
                  <a:srgbClr val="000000"/>
                </a:solidFill>
                <a:latin typeface="Poppins"/>
                <a:ea typeface="Poppins"/>
                <a:cs typeface="Poppins"/>
                <a:sym typeface="Poppins"/>
              </a:rPr>
              <a:t>Customers earning below ₹30K form a relatively small portion, suggesting lower exposure to high-risk lending.</a:t>
            </a:r>
          </a:p>
          <a:p>
            <a:pPr algn="l" marL="539749" indent="-269875" lvl="1">
              <a:lnSpc>
                <a:spcPts val="3499"/>
              </a:lnSpc>
              <a:buFont typeface="Arial"/>
              <a:buChar char="•"/>
            </a:pPr>
            <a:r>
              <a:rPr lang="en-US" sz="2499">
                <a:solidFill>
                  <a:srgbClr val="000000"/>
                </a:solidFill>
                <a:latin typeface="Poppins"/>
                <a:ea typeface="Poppins"/>
                <a:cs typeface="Poppins"/>
                <a:sym typeface="Poppins"/>
              </a:rPr>
              <a:t>Salary distribution can be directly used for credit risk assessment, personalized offers, and churn prediction.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312" t="0" r="-20312" b="0"/>
            </a:stretch>
          </a:blipFill>
        </p:spPr>
      </p:sp>
      <p:sp>
        <p:nvSpPr>
          <p:cNvPr name="Freeform 3" id="3"/>
          <p:cNvSpPr/>
          <p:nvPr/>
        </p:nvSpPr>
        <p:spPr>
          <a:xfrm flipH="false" flipV="false" rot="0">
            <a:off x="8770343" y="4141836"/>
            <a:ext cx="392717" cy="1565177"/>
          </a:xfrm>
          <a:custGeom>
            <a:avLst/>
            <a:gdLst/>
            <a:ahLst/>
            <a:cxnLst/>
            <a:rect r="r" b="b" t="t" l="l"/>
            <a:pathLst>
              <a:path h="1565177" w="392717">
                <a:moveTo>
                  <a:pt x="0" y="0"/>
                </a:moveTo>
                <a:lnTo>
                  <a:pt x="392717" y="0"/>
                </a:lnTo>
                <a:lnTo>
                  <a:pt x="392717" y="1565178"/>
                </a:lnTo>
                <a:lnTo>
                  <a:pt x="0" y="15651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20" y="271113"/>
            <a:ext cx="16230580" cy="738537"/>
          </a:xfrm>
          <a:prstGeom prst="rect">
            <a:avLst/>
          </a:prstGeom>
        </p:spPr>
        <p:txBody>
          <a:bodyPr anchor="t" rtlCol="false" tIns="0" lIns="0" bIns="0" rIns="0">
            <a:spAutoFit/>
          </a:bodyPr>
          <a:lstStyle/>
          <a:p>
            <a:pPr algn="ctr">
              <a:lnSpc>
                <a:spcPts val="6018"/>
              </a:lnSpc>
              <a:spcBef>
                <a:spcPct val="0"/>
              </a:spcBef>
            </a:pPr>
            <a:r>
              <a:rPr lang="en-US" sz="4298">
                <a:solidFill>
                  <a:srgbClr val="593C8F"/>
                </a:solidFill>
                <a:latin typeface="League Spartan"/>
                <a:ea typeface="League Spartan"/>
                <a:cs typeface="League Spartan"/>
                <a:sym typeface="League Spartan"/>
              </a:rPr>
              <a:t>GEOGRAPHY &amp; EXIT RATE</a:t>
            </a:r>
          </a:p>
        </p:txBody>
      </p:sp>
      <p:sp>
        <p:nvSpPr>
          <p:cNvPr name="AutoShape 5" id="5"/>
          <p:cNvSpPr/>
          <p:nvPr/>
        </p:nvSpPr>
        <p:spPr>
          <a:xfrm>
            <a:off x="3117133" y="1009650"/>
            <a:ext cx="12005214" cy="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480835" y="3041064"/>
            <a:ext cx="7822783" cy="4296561"/>
          </a:xfrm>
          <a:custGeom>
            <a:avLst/>
            <a:gdLst/>
            <a:ahLst/>
            <a:cxnLst/>
            <a:rect r="r" b="b" t="t" l="l"/>
            <a:pathLst>
              <a:path h="4296561" w="7822783">
                <a:moveTo>
                  <a:pt x="0" y="0"/>
                </a:moveTo>
                <a:lnTo>
                  <a:pt x="7822783" y="0"/>
                </a:lnTo>
                <a:lnTo>
                  <a:pt x="7822783" y="4296561"/>
                </a:lnTo>
                <a:lnTo>
                  <a:pt x="0" y="4296561"/>
                </a:lnTo>
                <a:lnTo>
                  <a:pt x="0" y="0"/>
                </a:lnTo>
                <a:close/>
              </a:path>
            </a:pathLst>
          </a:custGeom>
          <a:blipFill>
            <a:blip r:embed="rId5"/>
            <a:stretch>
              <a:fillRect l="-1858" t="0" r="-1858" b="0"/>
            </a:stretch>
          </a:blipFill>
        </p:spPr>
      </p:sp>
      <p:sp>
        <p:nvSpPr>
          <p:cNvPr name="TextBox 7" id="7"/>
          <p:cNvSpPr txBox="true"/>
          <p:nvPr/>
        </p:nvSpPr>
        <p:spPr>
          <a:xfrm rot="0">
            <a:off x="9683509" y="2041525"/>
            <a:ext cx="8311519" cy="613727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Poppins"/>
                <a:ea typeface="Poppins"/>
                <a:cs typeface="Poppins"/>
                <a:sym typeface="Poppins"/>
              </a:rPr>
              <a:t>France shows the highest retained customers (~4.2K), indicating a strong and stable market.</a:t>
            </a:r>
          </a:p>
          <a:p>
            <a:pPr algn="l" marL="539749" indent="-269875" lvl="1">
              <a:lnSpc>
                <a:spcPts val="3499"/>
              </a:lnSpc>
              <a:buFont typeface="Arial"/>
              <a:buChar char="•"/>
            </a:pPr>
            <a:r>
              <a:rPr lang="en-US" sz="2499">
                <a:solidFill>
                  <a:srgbClr val="000000"/>
                </a:solidFill>
                <a:latin typeface="Poppins"/>
                <a:ea typeface="Poppins"/>
                <a:cs typeface="Poppins"/>
                <a:sym typeface="Poppins"/>
              </a:rPr>
              <a:t>Although exits (~0.8K) are highest in France, this is mainly because it has the largest customer population.</a:t>
            </a:r>
          </a:p>
          <a:p>
            <a:pPr algn="l" marL="539749" indent="-269875" lvl="1">
              <a:lnSpc>
                <a:spcPts val="3499"/>
              </a:lnSpc>
              <a:buFont typeface="Arial"/>
              <a:buChar char="•"/>
            </a:pPr>
            <a:r>
              <a:rPr lang="en-US" sz="2499">
                <a:solidFill>
                  <a:srgbClr val="000000"/>
                </a:solidFill>
                <a:latin typeface="Poppins"/>
                <a:ea typeface="Poppins"/>
                <a:cs typeface="Poppins"/>
                <a:sym typeface="Poppins"/>
              </a:rPr>
              <a:t>Germany’s retained customers (~1.7K) are relatively low compared to exits (~0.8K), signaling a potential churn risk region.</a:t>
            </a:r>
          </a:p>
          <a:p>
            <a:pPr algn="l" marL="539749" indent="-269875" lvl="1">
              <a:lnSpc>
                <a:spcPts val="3499"/>
              </a:lnSpc>
              <a:buFont typeface="Arial"/>
              <a:buChar char="•"/>
            </a:pPr>
            <a:r>
              <a:rPr lang="en-US" sz="2499">
                <a:solidFill>
                  <a:srgbClr val="000000"/>
                </a:solidFill>
                <a:latin typeface="Poppins"/>
                <a:ea typeface="Poppins"/>
                <a:cs typeface="Poppins"/>
                <a:sym typeface="Poppins"/>
              </a:rPr>
              <a:t>Spain has the lowest churn count (~0.4K) with decent retention (~2.1K), suggesting better customer loyalty.</a:t>
            </a:r>
          </a:p>
          <a:p>
            <a:pPr algn="l" marL="539749" indent="-269875" lvl="1">
              <a:lnSpc>
                <a:spcPts val="3499"/>
              </a:lnSpc>
              <a:spcBef>
                <a:spcPct val="0"/>
              </a:spcBef>
              <a:buFont typeface="Arial"/>
              <a:buChar char="•"/>
            </a:pPr>
            <a:r>
              <a:rPr lang="en-US" sz="2499">
                <a:solidFill>
                  <a:srgbClr val="000000"/>
                </a:solidFill>
                <a:latin typeface="Poppins"/>
                <a:ea typeface="Poppins"/>
                <a:cs typeface="Poppins"/>
                <a:sym typeface="Poppins"/>
              </a:rPr>
              <a:t>Focus on churn reduction in Germany, retention optimization in France, and loyalty expansion in Spain.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8518" r="0" b="0"/>
            </a:stretch>
          </a:blipFill>
        </p:spPr>
      </p:sp>
      <p:grpSp>
        <p:nvGrpSpPr>
          <p:cNvPr name="Group 3" id="3"/>
          <p:cNvGrpSpPr/>
          <p:nvPr/>
        </p:nvGrpSpPr>
        <p:grpSpPr>
          <a:xfrm rot="0">
            <a:off x="0" y="5143500"/>
            <a:ext cx="18288000" cy="5143500"/>
            <a:chOff x="0" y="0"/>
            <a:chExt cx="4816593" cy="1354667"/>
          </a:xfrm>
        </p:grpSpPr>
        <p:sp>
          <p:nvSpPr>
            <p:cNvPr name="Freeform 4" id="4"/>
            <p:cNvSpPr/>
            <p:nvPr/>
          </p:nvSpPr>
          <p:spPr>
            <a:xfrm flipH="false" flipV="false" rot="0">
              <a:off x="0" y="0"/>
              <a:ext cx="4816592" cy="1354667"/>
            </a:xfrm>
            <a:custGeom>
              <a:avLst/>
              <a:gdLst/>
              <a:ahLst/>
              <a:cxnLst/>
              <a:rect r="r" b="b" t="t" l="l"/>
              <a:pathLst>
                <a:path h="1354667" w="4816592">
                  <a:moveTo>
                    <a:pt x="0" y="0"/>
                  </a:moveTo>
                  <a:lnTo>
                    <a:pt x="4816592" y="0"/>
                  </a:lnTo>
                  <a:lnTo>
                    <a:pt x="4816592" y="1354667"/>
                  </a:lnTo>
                  <a:lnTo>
                    <a:pt x="0" y="1354667"/>
                  </a:lnTo>
                  <a:close/>
                </a:path>
              </a:pathLst>
            </a:custGeom>
            <a:solidFill>
              <a:srgbClr val="FFFFFF">
                <a:alpha val="90980"/>
              </a:srgbClr>
            </a:solidFill>
          </p:spPr>
        </p:sp>
        <p:sp>
          <p:nvSpPr>
            <p:cNvPr name="TextBox 5" id="5"/>
            <p:cNvSpPr txBox="true"/>
            <p:nvPr/>
          </p:nvSpPr>
          <p:spPr>
            <a:xfrm>
              <a:off x="0" y="-47625"/>
              <a:ext cx="4816593" cy="140229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580371" y="5641711"/>
            <a:ext cx="10143658" cy="1375155"/>
          </a:xfrm>
          <a:prstGeom prst="rect">
            <a:avLst/>
          </a:prstGeom>
        </p:spPr>
        <p:txBody>
          <a:bodyPr anchor="t" rtlCol="false" tIns="0" lIns="0" bIns="0" rIns="0">
            <a:spAutoFit/>
          </a:bodyPr>
          <a:lstStyle/>
          <a:p>
            <a:pPr algn="ctr">
              <a:lnSpc>
                <a:spcPts val="11272"/>
              </a:lnSpc>
              <a:spcBef>
                <a:spcPct val="0"/>
              </a:spcBef>
            </a:pPr>
            <a:r>
              <a:rPr lang="en-US" sz="8051">
                <a:solidFill>
                  <a:srgbClr val="593C8F"/>
                </a:solidFill>
                <a:latin typeface="League Spartan"/>
                <a:ea typeface="League Spartan"/>
                <a:cs typeface="League Spartan"/>
                <a:sym typeface="League Spartan"/>
              </a:rPr>
              <a:t>THANK YOU</a:t>
            </a:r>
          </a:p>
        </p:txBody>
      </p:sp>
      <p:sp>
        <p:nvSpPr>
          <p:cNvPr name="AutoShape 7" id="7"/>
          <p:cNvSpPr/>
          <p:nvPr/>
        </p:nvSpPr>
        <p:spPr>
          <a:xfrm>
            <a:off x="6406081" y="6921616"/>
            <a:ext cx="6492240" cy="0"/>
          </a:xfrm>
          <a:prstGeom prst="line">
            <a:avLst/>
          </a:prstGeom>
          <a:ln cap="flat" w="38100">
            <a:solidFill>
              <a:srgbClr val="000000"/>
            </a:solidFill>
            <a:prstDash val="solid"/>
            <a:headEnd type="none" len="sm" w="sm"/>
            <a:tailEnd type="none" len="sm" w="sm"/>
          </a:ln>
        </p:spPr>
      </p:sp>
      <p:sp>
        <p:nvSpPr>
          <p:cNvPr name="TextBox 8" id="8"/>
          <p:cNvSpPr txBox="true"/>
          <p:nvPr/>
        </p:nvSpPr>
        <p:spPr>
          <a:xfrm rot="0">
            <a:off x="4450910" y="7188988"/>
            <a:ext cx="10402581" cy="833448"/>
          </a:xfrm>
          <a:prstGeom prst="rect">
            <a:avLst/>
          </a:prstGeom>
        </p:spPr>
        <p:txBody>
          <a:bodyPr anchor="t" rtlCol="false" tIns="0" lIns="0" bIns="0" rIns="0">
            <a:spAutoFit/>
          </a:bodyPr>
          <a:lstStyle/>
          <a:p>
            <a:pPr algn="ctr">
              <a:lnSpc>
                <a:spcPts val="3279"/>
              </a:lnSpc>
            </a:pPr>
            <a:r>
              <a:rPr lang="en-US" sz="2342">
                <a:solidFill>
                  <a:srgbClr val="000000"/>
                </a:solidFill>
                <a:latin typeface="Poppins"/>
                <a:ea typeface="Poppins"/>
                <a:cs typeface="Poppins"/>
                <a:sym typeface="Poppins"/>
              </a:rPr>
              <a:t>Data</a:t>
            </a:r>
            <a:r>
              <a:rPr lang="en-US" sz="2342">
                <a:solidFill>
                  <a:srgbClr val="000000"/>
                </a:solidFill>
                <a:latin typeface="Poppins"/>
                <a:ea typeface="Poppins"/>
                <a:cs typeface="Poppins"/>
                <a:sym typeface="Poppins"/>
              </a:rPr>
              <a:t> : From Newton School</a:t>
            </a:r>
          </a:p>
          <a:p>
            <a:pPr algn="ctr">
              <a:lnSpc>
                <a:spcPts val="3279"/>
              </a:lnSpc>
              <a:spcBef>
                <a:spcPct val="0"/>
              </a:spcBef>
            </a:pPr>
            <a:r>
              <a:rPr lang="en-US" sz="2342">
                <a:solidFill>
                  <a:srgbClr val="000000"/>
                </a:solidFill>
                <a:latin typeface="Poppins"/>
                <a:ea typeface="Poppins"/>
                <a:cs typeface="Poppins"/>
                <a:sym typeface="Poppins"/>
              </a:rPr>
              <a:t>Applications Used: MS Word, MS Power Point, MySQL, Power BI</a:t>
            </a:r>
          </a:p>
        </p:txBody>
      </p:sp>
      <p:sp>
        <p:nvSpPr>
          <p:cNvPr name="Freeform 9" id="9"/>
          <p:cNvSpPr/>
          <p:nvPr/>
        </p:nvSpPr>
        <p:spPr>
          <a:xfrm flipH="false" flipV="false" rot="0">
            <a:off x="6311086" y="8961540"/>
            <a:ext cx="707821" cy="707821"/>
          </a:xfrm>
          <a:custGeom>
            <a:avLst/>
            <a:gdLst/>
            <a:ahLst/>
            <a:cxnLst/>
            <a:rect r="r" b="b" t="t" l="l"/>
            <a:pathLst>
              <a:path h="707821" w="707821">
                <a:moveTo>
                  <a:pt x="0" y="0"/>
                </a:moveTo>
                <a:lnTo>
                  <a:pt x="707821" y="0"/>
                </a:lnTo>
                <a:lnTo>
                  <a:pt x="707821" y="707820"/>
                </a:lnTo>
                <a:lnTo>
                  <a:pt x="0" y="7078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7190357" y="8990498"/>
            <a:ext cx="5209437" cy="559979"/>
          </a:xfrm>
          <a:prstGeom prst="rect">
            <a:avLst/>
          </a:prstGeom>
        </p:spPr>
        <p:txBody>
          <a:bodyPr anchor="t" rtlCol="false" tIns="0" lIns="0" bIns="0" rIns="0">
            <a:spAutoFit/>
          </a:bodyPr>
          <a:lstStyle/>
          <a:p>
            <a:pPr algn="l" marL="0" indent="0" lvl="0">
              <a:lnSpc>
                <a:spcPts val="4310"/>
              </a:lnSpc>
              <a:spcBef>
                <a:spcPct val="0"/>
              </a:spcBef>
            </a:pPr>
            <a:r>
              <a:rPr lang="en-US" sz="3078">
                <a:solidFill>
                  <a:srgbClr val="000000"/>
                </a:solidFill>
                <a:latin typeface="Poppins"/>
                <a:ea typeface="Poppins"/>
                <a:cs typeface="Poppins"/>
                <a:sym typeface="Poppins"/>
              </a:rPr>
              <a:t>sinhathailesh@gmail.com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DAG_zg7zpts</dc:identifier>
  <dcterms:modified xsi:type="dcterms:W3CDTF">2011-08-01T06:04:30Z</dcterms:modified>
  <cp:revision>1</cp:revision>
  <dc:title>Purple &amp;  white business profile presentation</dc:title>
</cp:coreProperties>
</file>